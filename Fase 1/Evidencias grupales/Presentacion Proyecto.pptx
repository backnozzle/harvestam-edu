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irand" charset="1" panose="00000000000000000000"/>
      <p:regular r:id="rId15"/>
    </p:embeddedFont>
    <p:embeddedFont>
      <p:font typeface="Questrial" charset="1" panose="02000000000000000000"/>
      <p:regular r:id="rId16"/>
    </p:embeddedFont>
    <p:embeddedFont>
      <p:font typeface="Nirand Bold" charset="1" panose="00000000000000000000"/>
      <p:regular r:id="rId17"/>
    </p:embeddedFont>
    <p:embeddedFont>
      <p:font typeface="KG Primary Penmanship" charset="1" panose="02000506000000020003"/>
      <p:regular r:id="rId18"/>
    </p:embeddedFont>
    <p:embeddedFont>
      <p:font typeface="Nirand Italic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114800" y="725913"/>
            <a:ext cx="10287000" cy="10892573"/>
          </a:xfrm>
          <a:custGeom>
            <a:avLst/>
            <a:gdLst/>
            <a:ahLst/>
            <a:cxnLst/>
            <a:rect r="r" b="b" t="t" l="l"/>
            <a:pathLst>
              <a:path h="10892573" w="10287000">
                <a:moveTo>
                  <a:pt x="0" y="0"/>
                </a:moveTo>
                <a:lnTo>
                  <a:pt x="10287000" y="0"/>
                </a:lnTo>
                <a:lnTo>
                  <a:pt x="10287000" y="10892574"/>
                </a:lnTo>
                <a:lnTo>
                  <a:pt x="0" y="10892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20" t="0" r="-13741" b="-7494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047064">
            <a:off x="12734428" y="-6018654"/>
            <a:ext cx="9678592" cy="14420397"/>
          </a:xfrm>
          <a:custGeom>
            <a:avLst/>
            <a:gdLst/>
            <a:ahLst/>
            <a:cxnLst/>
            <a:rect r="r" b="b" t="t" l="l"/>
            <a:pathLst>
              <a:path h="14420397" w="9678592">
                <a:moveTo>
                  <a:pt x="0" y="0"/>
                </a:moveTo>
                <a:lnTo>
                  <a:pt x="9678592" y="0"/>
                </a:lnTo>
                <a:lnTo>
                  <a:pt x="9678592" y="14420397"/>
                </a:lnTo>
                <a:lnTo>
                  <a:pt x="0" y="14420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40866" y="2685673"/>
            <a:ext cx="7372485" cy="302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spc="664">
                <a:solidFill>
                  <a:srgbClr val="2A3030"/>
                </a:solidFill>
                <a:latin typeface="Nirand"/>
                <a:ea typeface="Nirand"/>
                <a:cs typeface="Nirand"/>
                <a:sym typeface="Nirand"/>
              </a:rPr>
              <a:t>PROYECTO HARVESTAM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46950" y="5644772"/>
            <a:ext cx="6595075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ANTONIA LIZANA &amp; MARCELO VALLADARES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46950" y="6438856"/>
            <a:ext cx="6595075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Asignatura: Capstone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Profesor: Juan Hernández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Fecha: 01/09/2026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50" y="-116575"/>
            <a:ext cx="0" cy="105201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67466" y="3962693"/>
            <a:ext cx="3995572" cy="725805"/>
            <a:chOff x="0" y="0"/>
            <a:chExt cx="5327429" cy="96774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648388" y="96732"/>
              <a:ext cx="467904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A3030"/>
                  </a:solidFill>
                  <a:latin typeface="Questrial"/>
                  <a:ea typeface="Questrial"/>
                  <a:cs typeface="Questrial"/>
                  <a:sym typeface="Questrial"/>
                </a:rPr>
                <a:t>DEFINICIÓN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 strike="noStrike" u="none">
                  <a:solidFill>
                    <a:srgbClr val="2A3030"/>
                  </a:solidFill>
                  <a:latin typeface="Nirand"/>
                  <a:ea typeface="Nirand"/>
                  <a:cs typeface="Nirand"/>
                  <a:sym typeface="Nirand"/>
                </a:rPr>
                <a:t>1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53757" y="6956246"/>
            <a:ext cx="171515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HITOS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466" y="6671766"/>
            <a:ext cx="37001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sz="4800" spc="398">
                <a:solidFill>
                  <a:srgbClr val="2A3030"/>
                </a:solidFill>
                <a:latin typeface="Nirand"/>
                <a:ea typeface="Nirand"/>
                <a:cs typeface="Nirand"/>
                <a:sym typeface="Nirand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7466" y="7702371"/>
            <a:ext cx="37001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pc="398">
                <a:solidFill>
                  <a:srgbClr val="2A3030"/>
                </a:solidFill>
                <a:latin typeface="Nirand Bold"/>
                <a:ea typeface="Nirand Bold"/>
                <a:cs typeface="Nirand Bold"/>
                <a:sym typeface="Nirand Bold"/>
              </a:rPr>
              <a:t>5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67466" y="4991556"/>
            <a:ext cx="4139897" cy="725805"/>
            <a:chOff x="0" y="0"/>
            <a:chExt cx="5519863" cy="96774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>
                  <a:solidFill>
                    <a:srgbClr val="2A3030"/>
                  </a:solidFill>
                  <a:latin typeface="Nirand"/>
                  <a:ea typeface="Nirand"/>
                  <a:cs typeface="Nirand"/>
                  <a:sym typeface="Nirand"/>
                </a:rPr>
                <a:t>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48388" y="96732"/>
              <a:ext cx="4871475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A3030"/>
                  </a:solidFill>
                  <a:latin typeface="Questrial"/>
                  <a:ea typeface="Questrial"/>
                  <a:cs typeface="Questrial"/>
                  <a:sym typeface="Questrial"/>
                </a:rPr>
                <a:t>PROBLEMATICA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67466" y="6022161"/>
            <a:ext cx="3899735" cy="725805"/>
            <a:chOff x="0" y="0"/>
            <a:chExt cx="5199647" cy="9677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>
                  <a:solidFill>
                    <a:srgbClr val="2A3030"/>
                  </a:solidFill>
                  <a:latin typeface="Nirand"/>
                  <a:ea typeface="Nirand"/>
                  <a:cs typeface="Nirand"/>
                  <a:sym typeface="Nirand"/>
                </a:rPr>
                <a:t>3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48388" y="96732"/>
              <a:ext cx="4551259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A3030"/>
                  </a:solidFill>
                  <a:latin typeface="Questrial"/>
                  <a:ea typeface="Questrial"/>
                  <a:cs typeface="Questrial"/>
                  <a:sym typeface="Questrial"/>
                </a:rPr>
                <a:t>OBJETIVO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67466" y="810115"/>
            <a:ext cx="9081219" cy="212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50"/>
              </a:lnSpc>
              <a:spcBef>
                <a:spcPct val="0"/>
              </a:spcBef>
            </a:pPr>
            <a:r>
              <a:rPr lang="en-US" sz="10607" spc="880" strike="noStrike" u="none">
                <a:solidFill>
                  <a:srgbClr val="2A3030"/>
                </a:solidFill>
                <a:latin typeface="Nirand"/>
                <a:ea typeface="Nirand"/>
                <a:cs typeface="Nirand"/>
                <a:sym typeface="Nirand"/>
              </a:rPr>
              <a:t>CONTENIDO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53757" y="7986851"/>
            <a:ext cx="382182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CONCLUSIONES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50" y="-116575"/>
            <a:ext cx="0" cy="105201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73209" y="-718699"/>
            <a:ext cx="7935928" cy="14108317"/>
          </a:xfrm>
          <a:custGeom>
            <a:avLst/>
            <a:gdLst/>
            <a:ahLst/>
            <a:cxnLst/>
            <a:rect r="r" b="b" t="t" l="l"/>
            <a:pathLst>
              <a:path h="14108317" w="7935928">
                <a:moveTo>
                  <a:pt x="0" y="0"/>
                </a:moveTo>
                <a:lnTo>
                  <a:pt x="7935928" y="0"/>
                </a:lnTo>
                <a:lnTo>
                  <a:pt x="7935928" y="14108317"/>
                </a:lnTo>
                <a:lnTo>
                  <a:pt x="0" y="14108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84109" y="5962420"/>
            <a:ext cx="3101333" cy="2946266"/>
          </a:xfrm>
          <a:custGeom>
            <a:avLst/>
            <a:gdLst/>
            <a:ahLst/>
            <a:cxnLst/>
            <a:rect r="r" b="b" t="t" l="l"/>
            <a:pathLst>
              <a:path h="2946266" w="3101333">
                <a:moveTo>
                  <a:pt x="0" y="0"/>
                </a:moveTo>
                <a:lnTo>
                  <a:pt x="3101333" y="0"/>
                </a:lnTo>
                <a:lnTo>
                  <a:pt x="3101333" y="2946267"/>
                </a:lnTo>
                <a:lnTo>
                  <a:pt x="0" y="2946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7466" y="514350"/>
            <a:ext cx="13843454" cy="410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69"/>
              </a:lnSpc>
              <a:spcBef>
                <a:spcPct val="0"/>
              </a:spcBef>
            </a:pPr>
            <a:r>
              <a:rPr lang="en-US" sz="10907" spc="905">
                <a:solidFill>
                  <a:srgbClr val="2A3030"/>
                </a:solidFill>
                <a:latin typeface="Nirand"/>
                <a:ea typeface="Nirand"/>
                <a:cs typeface="Nirand"/>
                <a:sym typeface="Nirand"/>
              </a:rPr>
              <a:t>DEFINICION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8793" y="5128249"/>
            <a:ext cx="242636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Ciencia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7632" y="5095875"/>
            <a:ext cx="3048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Desarrollo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7442" y="9098380"/>
            <a:ext cx="3048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Impacto sostenible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4215" y="0"/>
            <a:ext cx="7203785" cy="10287000"/>
            <a:chOff x="0" y="0"/>
            <a:chExt cx="1116055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6055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16055">
                  <a:moveTo>
                    <a:pt x="0" y="0"/>
                  </a:moveTo>
                  <a:lnTo>
                    <a:pt x="1116055" y="0"/>
                  </a:lnTo>
                  <a:lnTo>
                    <a:pt x="111605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0707" t="0" r="-930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85273" y="-280010"/>
            <a:ext cx="14400434" cy="247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69"/>
              </a:lnSpc>
              <a:spcBef>
                <a:spcPct val="0"/>
              </a:spcBef>
            </a:pPr>
            <a:r>
              <a:rPr lang="en-US" sz="12406" spc="1029">
                <a:solidFill>
                  <a:srgbClr val="2A3030"/>
                </a:solidFill>
                <a:latin typeface="Nirand"/>
                <a:ea typeface="Nirand"/>
                <a:cs typeface="Nirand"/>
                <a:sym typeface="Nirand"/>
              </a:rPr>
              <a:t>PROBLEM</a:t>
            </a:r>
            <a:r>
              <a:rPr lang="en-US" sz="12406" spc="1029">
                <a:solidFill>
                  <a:srgbClr val="DD5D76"/>
                </a:solidFill>
                <a:latin typeface="Nirand"/>
                <a:ea typeface="Nirand"/>
                <a:cs typeface="Nirand"/>
                <a:sym typeface="Nirand"/>
              </a:rPr>
              <a:t>ATICA</a:t>
            </a:r>
          </a:p>
        </p:txBody>
      </p:sp>
    </p:spTree>
  </p:cSld>
  <p:clrMapOvr>
    <a:masterClrMapping/>
  </p:clrMapOvr>
  <p:transition spd="fast">
    <p:wipe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556940"/>
            <a:ext cx="18467996" cy="8968250"/>
          </a:xfrm>
          <a:custGeom>
            <a:avLst/>
            <a:gdLst/>
            <a:ahLst/>
            <a:cxnLst/>
            <a:rect r="r" b="b" t="t" l="l"/>
            <a:pathLst>
              <a:path h="8968250" w="18467996">
                <a:moveTo>
                  <a:pt x="0" y="0"/>
                </a:moveTo>
                <a:lnTo>
                  <a:pt x="18467996" y="0"/>
                </a:lnTo>
                <a:lnTo>
                  <a:pt x="18467996" y="8968251"/>
                </a:lnTo>
                <a:lnTo>
                  <a:pt x="0" y="896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131" t="0" r="-131" b="-11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5348" y="419736"/>
            <a:ext cx="16230600" cy="1528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80"/>
              </a:lnSpc>
              <a:spcBef>
                <a:spcPct val="0"/>
              </a:spcBef>
            </a:pPr>
            <a:r>
              <a:rPr lang="en-US" sz="7700" spc="639">
                <a:solidFill>
                  <a:srgbClr val="FFFFFF"/>
                </a:solidFill>
                <a:latin typeface="Nirand"/>
                <a:ea typeface="Nirand"/>
                <a:cs typeface="Nirand"/>
                <a:sym typeface="Nirand"/>
              </a:rPr>
              <a:t>EL OBJETIVO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7466" y="2910205"/>
            <a:ext cx="780318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Objetivo general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4818" y="2910205"/>
            <a:ext cx="780318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Objetivo específicos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84818" y="3802271"/>
            <a:ext cx="3995572" cy="725805"/>
            <a:chOff x="0" y="0"/>
            <a:chExt cx="5327429" cy="96774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648388" y="96732"/>
              <a:ext cx="467904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Construir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 strike="noStrike" u="none">
                  <a:solidFill>
                    <a:srgbClr val="FFFFFF"/>
                  </a:solidFill>
                  <a:latin typeface="Nirand"/>
                  <a:ea typeface="Nirand"/>
                  <a:cs typeface="Nirand"/>
                  <a:sym typeface="Niran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1109" y="6795825"/>
            <a:ext cx="476315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Validar modelo y sitio web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84818" y="6511345"/>
            <a:ext cx="37001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sz="4800" spc="398">
                <a:solidFill>
                  <a:srgbClr val="FFFFFF"/>
                </a:solidFill>
                <a:latin typeface="Nirand"/>
                <a:ea typeface="Nirand"/>
                <a:cs typeface="Nirand"/>
                <a:sym typeface="Nirand"/>
              </a:rPr>
              <a:t>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84818" y="4831135"/>
            <a:ext cx="4139897" cy="725805"/>
            <a:chOff x="0" y="0"/>
            <a:chExt cx="5519863" cy="96774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>
                  <a:solidFill>
                    <a:srgbClr val="FFFFFF"/>
                  </a:solidFill>
                  <a:latin typeface="Nirand"/>
                  <a:ea typeface="Nirand"/>
                  <a:cs typeface="Nirand"/>
                  <a:sym typeface="Nirand"/>
                </a:rPr>
                <a:t>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48388" y="96732"/>
              <a:ext cx="4871475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Entrenar y evaluar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84818" y="5861740"/>
            <a:ext cx="4581524" cy="725805"/>
            <a:chOff x="0" y="0"/>
            <a:chExt cx="6108699" cy="96774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>
                  <a:solidFill>
                    <a:srgbClr val="FFFFFF"/>
                  </a:solidFill>
                  <a:latin typeface="Nirand"/>
                  <a:ea typeface="Nirand"/>
                  <a:cs typeface="Nirand"/>
                  <a:sym typeface="Nirand"/>
                </a:rPr>
                <a:t>3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48388" y="96732"/>
              <a:ext cx="546031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Desarrollar e integrar</a:t>
              </a:r>
            </a:p>
          </p:txBody>
        </p:sp>
      </p:grpSp>
    </p:spTree>
  </p:cSld>
  <p:clrMapOvr>
    <a:masterClrMapping/>
  </p:clrMapOvr>
  <p:transition spd="fast">
    <p:wipe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47783" y="1540042"/>
            <a:ext cx="3603458" cy="3603458"/>
          </a:xfrm>
          <a:custGeom>
            <a:avLst/>
            <a:gdLst/>
            <a:ahLst/>
            <a:cxnLst/>
            <a:rect r="r" b="b" t="t" l="l"/>
            <a:pathLst>
              <a:path h="3603458" w="3603458">
                <a:moveTo>
                  <a:pt x="0" y="0"/>
                </a:moveTo>
                <a:lnTo>
                  <a:pt x="3603458" y="0"/>
                </a:lnTo>
                <a:lnTo>
                  <a:pt x="3603458" y="3603458"/>
                </a:lnTo>
                <a:lnTo>
                  <a:pt x="0" y="360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94758" y="6246650"/>
            <a:ext cx="3603307" cy="3603308"/>
          </a:xfrm>
          <a:custGeom>
            <a:avLst/>
            <a:gdLst/>
            <a:ahLst/>
            <a:cxnLst/>
            <a:rect r="r" b="b" t="t" l="l"/>
            <a:pathLst>
              <a:path h="3603308" w="3603307">
                <a:moveTo>
                  <a:pt x="0" y="0"/>
                </a:moveTo>
                <a:lnTo>
                  <a:pt x="3603308" y="0"/>
                </a:lnTo>
                <a:lnTo>
                  <a:pt x="3603308" y="3603308"/>
                </a:lnTo>
                <a:lnTo>
                  <a:pt x="0" y="3603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67466" y="8048304"/>
            <a:ext cx="3316705" cy="1532021"/>
            <a:chOff x="0" y="0"/>
            <a:chExt cx="1063585" cy="4912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3585" cy="491281"/>
            </a:xfrm>
            <a:custGeom>
              <a:avLst/>
              <a:gdLst/>
              <a:ahLst/>
              <a:cxnLst/>
              <a:rect r="r" b="b" t="t" l="l"/>
              <a:pathLst>
                <a:path h="491281" w="1063585">
                  <a:moveTo>
                    <a:pt x="825460" y="0"/>
                  </a:moveTo>
                  <a:lnTo>
                    <a:pt x="1063585" y="238125"/>
                  </a:lnTo>
                  <a:lnTo>
                    <a:pt x="1063585" y="253156"/>
                  </a:lnTo>
                  <a:lnTo>
                    <a:pt x="825460" y="491281"/>
                  </a:lnTo>
                  <a:lnTo>
                    <a:pt x="238125" y="491281"/>
                  </a:lnTo>
                  <a:lnTo>
                    <a:pt x="0" y="25315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25460" y="0"/>
                  </a:lnTo>
                  <a:close/>
                </a:path>
              </a:pathLst>
            </a:custGeom>
            <a:solidFill>
              <a:srgbClr val="5F6D8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63500" y="-3175"/>
              <a:ext cx="936585" cy="430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Herramientas open source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67466" y="666750"/>
            <a:ext cx="16230600" cy="1528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80"/>
              </a:lnSpc>
              <a:spcBef>
                <a:spcPct val="0"/>
              </a:spcBef>
            </a:pPr>
            <a:r>
              <a:rPr lang="en-US" sz="7700" spc="639">
                <a:solidFill>
                  <a:srgbClr val="FFFFFF"/>
                </a:solidFill>
                <a:latin typeface="Nirand"/>
                <a:ea typeface="Nirand"/>
                <a:cs typeface="Nirand"/>
                <a:sym typeface="Nirand"/>
              </a:rPr>
              <a:t>ALCANCES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67466" y="3461377"/>
            <a:ext cx="4496888" cy="725805"/>
            <a:chOff x="0" y="0"/>
            <a:chExt cx="5995850" cy="96774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648388" y="96732"/>
              <a:ext cx="5347462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Dataset consolidado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 strike="noStrike" u="none">
                  <a:solidFill>
                    <a:srgbClr val="FFFFFF"/>
                  </a:solidFill>
                  <a:latin typeface="Nirand"/>
                  <a:ea typeface="Nirand"/>
                  <a:cs typeface="Nirand"/>
                  <a:sym typeface="Niran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53757" y="6454930"/>
            <a:ext cx="5104047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Código y documentación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7466" y="6170450"/>
            <a:ext cx="37001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sz="4800" spc="398">
                <a:solidFill>
                  <a:srgbClr val="FFFFFF"/>
                </a:solidFill>
                <a:latin typeface="Nirand"/>
                <a:ea typeface="Nirand"/>
                <a:cs typeface="Nirand"/>
                <a:sym typeface="Nirand"/>
              </a:rPr>
              <a:t>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67466" y="4490240"/>
            <a:ext cx="4139897" cy="725805"/>
            <a:chOff x="0" y="0"/>
            <a:chExt cx="5519863" cy="96774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>
                  <a:solidFill>
                    <a:srgbClr val="FFFFFF"/>
                  </a:solidFill>
                  <a:latin typeface="Nirand"/>
                  <a:ea typeface="Nirand"/>
                  <a:cs typeface="Nirand"/>
                  <a:sym typeface="Nirand"/>
                </a:rPr>
                <a:t>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48388" y="96732"/>
              <a:ext cx="4871475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Modelo predictivo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67466" y="5520845"/>
            <a:ext cx="6165682" cy="725805"/>
            <a:chOff x="0" y="0"/>
            <a:chExt cx="8220910" cy="96774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228600"/>
              <a:ext cx="493351" cy="1196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sz="4800" spc="398">
                  <a:solidFill>
                    <a:srgbClr val="FFFFFF"/>
                  </a:solidFill>
                  <a:latin typeface="Nirand"/>
                  <a:ea typeface="Nirand"/>
                  <a:cs typeface="Nirand"/>
                  <a:sym typeface="Nirand"/>
                </a:rPr>
                <a:t>3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48388" y="96732"/>
              <a:ext cx="7572522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Sitio web funcional y accesible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18811" y="8048304"/>
            <a:ext cx="3316705" cy="1532021"/>
            <a:chOff x="0" y="0"/>
            <a:chExt cx="1063585" cy="4912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3585" cy="491281"/>
            </a:xfrm>
            <a:custGeom>
              <a:avLst/>
              <a:gdLst/>
              <a:ahLst/>
              <a:cxnLst/>
              <a:rect r="r" b="b" t="t" l="l"/>
              <a:pathLst>
                <a:path h="491281" w="1063585">
                  <a:moveTo>
                    <a:pt x="825460" y="0"/>
                  </a:moveTo>
                  <a:lnTo>
                    <a:pt x="1063585" y="238125"/>
                  </a:lnTo>
                  <a:lnTo>
                    <a:pt x="1063585" y="253156"/>
                  </a:lnTo>
                  <a:lnTo>
                    <a:pt x="825460" y="491281"/>
                  </a:lnTo>
                  <a:lnTo>
                    <a:pt x="238125" y="491281"/>
                  </a:lnTo>
                  <a:lnTo>
                    <a:pt x="0" y="25315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25460" y="0"/>
                  </a:lnTo>
                  <a:close/>
                </a:path>
              </a:pathLst>
            </a:custGeom>
            <a:solidFill>
              <a:srgbClr val="F8F6F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63500" y="-3175"/>
              <a:ext cx="936585" cy="430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18 semanas</a:t>
              </a:r>
            </a:p>
          </p:txBody>
        </p:sp>
      </p:grpSp>
    </p:spTree>
  </p:cSld>
  <p:clrMapOvr>
    <a:masterClrMapping/>
  </p:clrMapOvr>
  <p:transition spd="fast">
    <p:wipe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50" y="-116575"/>
            <a:ext cx="0" cy="105201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1986059">
            <a:off x="11779326" y="4220038"/>
            <a:ext cx="18288000" cy="8097520"/>
          </a:xfrm>
          <a:custGeom>
            <a:avLst/>
            <a:gdLst/>
            <a:ahLst/>
            <a:cxnLst/>
            <a:rect r="r" b="b" t="t" l="l"/>
            <a:pathLst>
              <a:path h="8097520" w="18288000">
                <a:moveTo>
                  <a:pt x="0" y="0"/>
                </a:moveTo>
                <a:lnTo>
                  <a:pt x="18288000" y="0"/>
                </a:lnTo>
                <a:lnTo>
                  <a:pt x="18288000" y="8097520"/>
                </a:lnTo>
                <a:lnTo>
                  <a:pt x="0" y="809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67466" y="5374667"/>
            <a:ext cx="8600625" cy="3354244"/>
          </a:xfrm>
          <a:custGeom>
            <a:avLst/>
            <a:gdLst/>
            <a:ahLst/>
            <a:cxnLst/>
            <a:rect r="r" b="b" t="t" l="l"/>
            <a:pathLst>
              <a:path h="3354244" w="8600625">
                <a:moveTo>
                  <a:pt x="0" y="0"/>
                </a:moveTo>
                <a:lnTo>
                  <a:pt x="8600625" y="0"/>
                </a:lnTo>
                <a:lnTo>
                  <a:pt x="8600625" y="3354244"/>
                </a:lnTo>
                <a:lnTo>
                  <a:pt x="0" y="3354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7466" y="-287755"/>
            <a:ext cx="13843454" cy="410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69"/>
              </a:lnSpc>
              <a:spcBef>
                <a:spcPct val="0"/>
              </a:spcBef>
            </a:pPr>
            <a:r>
              <a:rPr lang="en-US" sz="10907" spc="905">
                <a:solidFill>
                  <a:srgbClr val="2A3030"/>
                </a:solidFill>
                <a:latin typeface="Nirand"/>
                <a:ea typeface="Nirand"/>
                <a:cs typeface="Nirand"/>
                <a:sym typeface="Nirand"/>
              </a:rPr>
              <a:t>HITOS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5740" y="8839835"/>
            <a:ext cx="278507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Definición y configuración inicial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15988" y="4185312"/>
            <a:ext cx="3090705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Comprensión negocio/datos, preparación.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5740" y="6833349"/>
            <a:ext cx="27850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Sprint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8803" y="6833349"/>
            <a:ext cx="27850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Sprint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66971" y="6833349"/>
            <a:ext cx="27850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Sprint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3979" y="6833349"/>
            <a:ext cx="27850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Sprint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56871" y="6833349"/>
            <a:ext cx="27850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Cierre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66971" y="8839835"/>
            <a:ext cx="258588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Modelado y evaluación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3979" y="4185312"/>
            <a:ext cx="2830424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Desarrollo e Integración del sitio Web</a:t>
            </a:r>
          </a:p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956871" y="8839835"/>
            <a:ext cx="2785075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Informe final y ensayo de la defensa</a:t>
            </a:r>
          </a:p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wipe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50" y="-116575"/>
            <a:ext cx="0" cy="105201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73209" y="-718699"/>
            <a:ext cx="7935928" cy="14108317"/>
          </a:xfrm>
          <a:custGeom>
            <a:avLst/>
            <a:gdLst/>
            <a:ahLst/>
            <a:cxnLst/>
            <a:rect r="r" b="b" t="t" l="l"/>
            <a:pathLst>
              <a:path h="14108317" w="7935928">
                <a:moveTo>
                  <a:pt x="0" y="0"/>
                </a:moveTo>
                <a:lnTo>
                  <a:pt x="7935928" y="0"/>
                </a:lnTo>
                <a:lnTo>
                  <a:pt x="7935928" y="14108317"/>
                </a:lnTo>
                <a:lnTo>
                  <a:pt x="0" y="14108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7466" y="514350"/>
            <a:ext cx="13843454" cy="217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69"/>
              </a:lnSpc>
              <a:spcBef>
                <a:spcPct val="0"/>
              </a:spcBef>
            </a:pPr>
            <a:r>
              <a:rPr lang="en-US" sz="10907" spc="905">
                <a:solidFill>
                  <a:srgbClr val="2A3030"/>
                </a:solidFill>
                <a:latin typeface="Nirand"/>
                <a:ea typeface="Nirand"/>
                <a:cs typeface="Nirand"/>
                <a:sym typeface="Nirand"/>
              </a:rPr>
              <a:t>CONCLUSIONES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466" y="4365140"/>
            <a:ext cx="3509281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Competencias del perfil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7466" y="5915372"/>
            <a:ext cx="3974449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A3030"/>
                </a:solidFill>
                <a:latin typeface="Questrial"/>
                <a:ea typeface="Questrial"/>
                <a:cs typeface="Questrial"/>
                <a:sym typeface="Questrial"/>
              </a:rPr>
              <a:t>Impacto final</a:t>
            </a:r>
          </a:p>
        </p:txBody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27">
            <a:off x="2043447" y="5916364"/>
            <a:ext cx="369155" cy="369155"/>
          </a:xfrm>
          <a:custGeom>
            <a:avLst/>
            <a:gdLst/>
            <a:ahLst/>
            <a:cxnLst/>
            <a:rect r="r" b="b" t="t" l="l"/>
            <a:pathLst>
              <a:path h="369155" w="369155">
                <a:moveTo>
                  <a:pt x="0" y="0"/>
                </a:moveTo>
                <a:lnTo>
                  <a:pt x="369155" y="0"/>
                </a:lnTo>
                <a:lnTo>
                  <a:pt x="369155" y="369155"/>
                </a:lnTo>
                <a:lnTo>
                  <a:pt x="0" y="369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120607"/>
            <a:ext cx="18288000" cy="10528213"/>
            <a:chOff x="0" y="0"/>
            <a:chExt cx="4816593" cy="27728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72863"/>
            </a:xfrm>
            <a:custGeom>
              <a:avLst/>
              <a:gdLst/>
              <a:ahLst/>
              <a:cxnLst/>
              <a:rect r="r" b="b" t="t" l="l"/>
              <a:pathLst>
                <a:path h="277286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2863"/>
                  </a:lnTo>
                  <a:lnTo>
                    <a:pt x="0" y="2772863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2820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60784"/>
                    </a:srgbClr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37358"/>
            <a:chOff x="0" y="0"/>
            <a:chExt cx="4274726" cy="2169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9510"/>
            </a:xfrm>
            <a:custGeom>
              <a:avLst/>
              <a:gdLst/>
              <a:ahLst/>
              <a:cxnLst/>
              <a:rect r="r" b="b" t="t" l="l"/>
              <a:pathLst>
                <a:path h="216951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9510"/>
                  </a:lnTo>
                  <a:lnTo>
                    <a:pt x="0" y="216951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274726" cy="2217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228025" y="4397405"/>
            <a:ext cx="13723583" cy="1214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80"/>
              </a:lnSpc>
              <a:spcBef>
                <a:spcPct val="0"/>
              </a:spcBef>
            </a:pPr>
            <a:r>
              <a:rPr lang="en-US" sz="6128" i="true" spc="24">
                <a:solidFill>
                  <a:srgbClr val="FFFFFF"/>
                </a:solidFill>
                <a:latin typeface="Nirand Italics"/>
                <a:ea typeface="Nirand Italics"/>
                <a:cs typeface="Nirand Italics"/>
                <a:sym typeface="Nirand Italics"/>
              </a:rPr>
              <a:t>GRACIAS</a:t>
            </a:r>
          </a:p>
        </p:txBody>
      </p:sp>
    </p:spTree>
  </p:cSld>
  <p:clrMapOvr>
    <a:masterClrMapping/>
  </p:clrMapOvr>
  <p:transition spd="fast">
    <p:wipe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DAHT3x6HZmk</dc:identifier>
  <dcterms:modified xsi:type="dcterms:W3CDTF">2011-08-01T06:04:30Z</dcterms:modified>
  <cp:revision>1</cp:revision>
  <dc:title>HarvesTam - Edu</dc:title>
</cp:coreProperties>
</file>